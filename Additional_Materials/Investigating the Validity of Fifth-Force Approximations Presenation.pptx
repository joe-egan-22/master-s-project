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C476-2BE2-D92B-6C7F-E4963AE61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48D29-5B25-F15E-C620-5B59B4053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5842-7B29-E5EE-BC58-0996B451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B2682-C6CF-050C-A652-EB9FF342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F9BA3-58E4-0577-6A29-5CCEF189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8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D56A-2EDA-B599-85B2-7913105B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0EA58-3BAB-FB58-8987-04D906605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1B0B9-C94D-64CC-9EEB-6D3384AE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077F-B528-D19D-3D94-DA1C34CB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B4846-8B56-4932-821B-5D02376F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BFB3-3078-0AFA-2EF6-59AF62E7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F0A9F-80F8-02F3-D673-A5B802E83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0BB77-E545-A629-39A3-9865DA4E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66AD2-2AB7-A2E7-0CB1-8EF40067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E237-A418-8590-6600-34C21984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00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B0E6-2650-1971-C9FB-48E9725E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3A6A0-B9B6-4112-7BAA-6983C0F44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EA31B-5001-1DF5-A00D-92A4F252F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561DF-E2AD-254F-72F0-96E38A40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D4762-DFA5-8BFD-AADD-3EF04EA8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AE768-2362-DFD9-6272-92A80560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68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BEFD-0B51-6BC2-DA15-04A96824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BD5AC-11D9-5153-132D-54EC2EF54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EB717-8049-38EE-0262-F2DDE3564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67059-2DDF-CFEE-3111-89D68046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26CDD-0B40-0D86-619C-6AACA0D0D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E4217-1465-CF00-4D79-F95A3F2F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D1A26-FE0B-B26A-7761-77A05EA6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336021-E94A-5629-447C-03D18856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64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63F6-0648-F233-23E4-25F1BA17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AC570-002A-0E4C-F30F-02E87406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E2DD2-878C-720F-B63D-24916EB4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3274D-F57C-2D49-FFEB-4A9AAF6E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26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ECEED-7C82-DD7B-FDB0-6C102D96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96C660-3D7A-A3BF-05C1-5521A17A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E16F4-0BBC-6007-15D5-ED6E6A2F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4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7654-A21D-CC22-C7DA-CF23EF0B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4FBCA-3063-C9CA-5AD3-7E2DD686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9377-7B58-B214-9826-874DE57A0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BE2D9-5C27-5CA3-5A0B-A906821E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6A641-2DB3-BD47-5B98-4CFA0919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FE0D-25C8-E412-068C-0A43DFAC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15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5F1A-C4C5-84F7-04A6-F94816EB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1A7DC-0C8D-E7C6-CC79-7D4A7F1A364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BB7B2-A2C6-1FA0-C0A0-70119BD5F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7A349-28A0-8AE8-BD2C-07E60F55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C828D-7FF7-CAFA-1960-5E97A844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248D4-BF72-A621-3C92-59887DF4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2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5973-90EA-02A6-C97A-183BF295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7A31C-E779-E773-C077-0D9B63556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1AE1B-4E9A-122B-5C07-FBE5C2C8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DD32-8C53-323A-03B4-82352A3C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5AA50-FAC3-9790-B747-1E1724EB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66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88A60-8AC4-9E9D-D971-F0276039E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1EB33-75EB-8386-F490-F27F6DC6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9FA32-5A5F-EA4B-8664-A6D8F5E6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4AD16-514B-3E1E-3BEE-A81CA618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46F-E8CA-969E-53B1-4EC9AF32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64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17B79-AB39-B264-9B45-727C75E2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8C137-26E2-FC61-47A2-C67524EB0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749C-444B-5A0C-DC60-085771650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916CB-4F72-47B1-A049-D841B5D7EF5E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2D851-2B7E-CE16-B255-7269901B1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03A8A-52C4-51AB-7BB5-E3BD0B5E1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161DA-C372-455D-8681-DCEAD5517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642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aps.org/doi/10.1103/y314-4x4s" TargetMode="External"/><Relationship Id="rId13" Type="http://schemas.openxmlformats.org/officeDocument/2006/relationships/hyperlink" Target="http://dx.doi.org/10.1103/PhysRevLett.123.061102" TargetMode="External"/><Relationship Id="rId3" Type="http://schemas.openxmlformats.org/officeDocument/2006/relationships/hyperlink" Target="http://dx.doi.org/10.1088/1475-7516/2015/03/042" TargetMode="External"/><Relationship Id="rId7" Type="http://schemas.openxmlformats.org/officeDocument/2006/relationships/hyperlink" Target="http://dx.doi.org/10.1103/PhysRevD.101.083501" TargetMode="External"/><Relationship Id="rId12" Type="http://schemas.openxmlformats.org/officeDocument/2006/relationships/hyperlink" Target="https://doi.org/10.1088/1475-7516/2026/02/087" TargetMode="External"/><Relationship Id="rId2" Type="http://schemas.openxmlformats.org/officeDocument/2006/relationships/hyperlink" Target="http://dx.doi.org/10.1103/PhysRevD.97.06401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aps.org/doi/10.1103/PhysRevD.99.043539" TargetMode="External"/><Relationship Id="rId11" Type="http://schemas.openxmlformats.org/officeDocument/2006/relationships/hyperlink" Target="https://link.aps.org/doi/10.1103/PhysRevLett.104.231301" TargetMode="External"/><Relationship Id="rId5" Type="http://schemas.openxmlformats.org/officeDocument/2006/relationships/hyperlink" Target="http://dx.doi.org/10.1088/1475-7516/2021/08/052" TargetMode="External"/><Relationship Id="rId10" Type="http://schemas.openxmlformats.org/officeDocument/2006/relationships/hyperlink" Target="https://doi.org/10.1088/1475-7516/2024/10/026" TargetMode="External"/><Relationship Id="rId4" Type="http://schemas.openxmlformats.org/officeDocument/2006/relationships/hyperlink" Target="http://dx.doi.org/10.1088/1475-7516/2016/12/041" TargetMode="External"/><Relationship Id="rId9" Type="http://schemas.openxmlformats.org/officeDocument/2006/relationships/hyperlink" Target="http://dx.doi.org/10.3390/universe100702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2584-E10D-A803-D6CB-A1F48A82F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7030A0"/>
                </a:solidFill>
              </a:rPr>
              <a:t>Investigating the Validity of Fifth-Force Approximations</a:t>
            </a:r>
            <a:endParaRPr lang="en-GB" sz="3000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27EE8-1CA6-5B88-9C54-2E48AA054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b="1" dirty="0"/>
              <a:t>Joseph Egan,</a:t>
            </a:r>
          </a:p>
          <a:p>
            <a:pPr algn="l"/>
            <a:r>
              <a:rPr lang="en-GB" dirty="0"/>
              <a:t>PHYS40180 Research Project, Literature Review Presentation</a:t>
            </a:r>
          </a:p>
          <a:p>
            <a:pPr algn="l"/>
            <a:r>
              <a:rPr lang="en-GB" dirty="0"/>
              <a:t>22</a:t>
            </a:r>
            <a:r>
              <a:rPr lang="en-GB" baseline="30000" dirty="0"/>
              <a:t>nd</a:t>
            </a:r>
            <a:r>
              <a:rPr lang="en-GB" dirty="0"/>
              <a:t> October 2026</a:t>
            </a:r>
          </a:p>
        </p:txBody>
      </p:sp>
      <p:pic>
        <p:nvPicPr>
          <p:cNvPr id="6" name="Picture 5" descr="University logo | University brand | StaffNet | The University of Manchester">
            <a:extLst>
              <a:ext uri="{FF2B5EF4-FFF2-40B4-BE49-F238E27FC236}">
                <a16:creationId xmlns:a16="http://schemas.microsoft.com/office/drawing/2014/main" id="{331DB1D6-B7F0-DE6D-B0CD-74E3EB305F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26" t="10523" r="12174" b="12560"/>
          <a:stretch>
            <a:fillRect/>
          </a:stretch>
        </p:blipFill>
        <p:spPr>
          <a:xfrm>
            <a:off x="168965" y="154057"/>
            <a:ext cx="2871389" cy="134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8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9033-7E06-56A1-4FBF-A7867B22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7030A0"/>
                </a:solidFill>
              </a:rPr>
              <a:t>Context: Screening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B1CC-4CC4-0C3D-98CC-580033ECC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62" y="2218428"/>
            <a:ext cx="4694999" cy="45451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000" dirty="0"/>
              <a:t>Purpose:</a:t>
            </a:r>
          </a:p>
          <a:p>
            <a:pPr marL="514350" indent="-514350">
              <a:buAutoNum type="arabicParenR"/>
            </a:pPr>
            <a:r>
              <a:rPr lang="en-US" sz="2000" dirty="0"/>
              <a:t>Standard ΛCDM cosmology explains cosmic acceleration with a cosmological constant.</a:t>
            </a:r>
          </a:p>
          <a:p>
            <a:pPr marL="514350" indent="-514350">
              <a:buAutoNum type="arabicParenR"/>
            </a:pPr>
            <a:r>
              <a:rPr lang="en-US" sz="2000" dirty="0"/>
              <a:t>Possibility that cosmic acceleration is driven by a dynamical component. </a:t>
            </a:r>
            <a:r>
              <a:rPr lang="en-US" sz="2000" b="1" dirty="0"/>
              <a:t>Light scalars </a:t>
            </a:r>
            <a:r>
              <a:rPr lang="en-US" sz="2000" dirty="0"/>
              <a:t>are predicted by high-energy physics but are </a:t>
            </a:r>
            <a:r>
              <a:rPr lang="en-US" sz="2000" b="1" dirty="0"/>
              <a:t>unobserved</a:t>
            </a:r>
            <a:r>
              <a:rPr lang="en-US" sz="2000" dirty="0"/>
              <a:t> by local (within our solar system) experiments.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Bridges dark matter and modified gravity theories </a:t>
            </a:r>
            <a:r>
              <a:rPr lang="en-US" sz="2000" i="1" dirty="0"/>
              <a:t>(Burrage, Copeland, </a:t>
            </a:r>
            <a:r>
              <a:rPr lang="en-GB" sz="2000" i="1" dirty="0" err="1"/>
              <a:t>Käding</a:t>
            </a:r>
            <a:r>
              <a:rPr lang="en-GB" sz="2000" i="1" dirty="0"/>
              <a:t> &amp; Millington 2019)</a:t>
            </a:r>
            <a:endParaRPr lang="en-US" sz="2000" i="1" dirty="0"/>
          </a:p>
          <a:p>
            <a:pPr marL="514350" indent="-514350">
              <a:buAutoNum type="arabicParenR"/>
            </a:pPr>
            <a:r>
              <a:rPr lang="en-US" sz="2000" dirty="0"/>
              <a:t>Such scalars imply a </a:t>
            </a:r>
            <a:r>
              <a:rPr lang="en-US" sz="2000" b="1" dirty="0"/>
              <a:t>fifth fundamental force</a:t>
            </a:r>
            <a:r>
              <a:rPr lang="en-US" sz="2000" dirty="0"/>
              <a:t>.</a:t>
            </a:r>
          </a:p>
          <a:p>
            <a:pPr marL="514350" indent="-514350">
              <a:buAutoNum type="arabicParenR"/>
            </a:pPr>
            <a:r>
              <a:rPr lang="en-US" sz="2000" dirty="0"/>
              <a:t>A screening mechanism was proposed to justify both their existence and lack of observation.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i="1" dirty="0"/>
              <a:t>(Burrage, Elder, Millington, Saadeh &amp; </a:t>
            </a:r>
            <a:r>
              <a:rPr lang="en-US" sz="1700" i="1" dirty="0" err="1"/>
              <a:t>Thrussel</a:t>
            </a:r>
            <a:r>
              <a:rPr lang="en-US" sz="1700" i="1" dirty="0"/>
              <a:t> 2021)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7CA932-85BE-0589-752C-948EA66CC645}"/>
              </a:ext>
            </a:extLst>
          </p:cNvPr>
          <p:cNvSpPr/>
          <p:nvPr/>
        </p:nvSpPr>
        <p:spPr>
          <a:xfrm>
            <a:off x="352425" y="1114425"/>
            <a:ext cx="10972800" cy="1000125"/>
          </a:xfrm>
          <a:prstGeom prst="roundRect">
            <a:avLst/>
          </a:prstGeom>
          <a:solidFill>
            <a:srgbClr val="C00000">
              <a:alpha val="4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Symmetron: </a:t>
            </a:r>
            <a:r>
              <a:rPr lang="en-US" b="1" dirty="0"/>
              <a:t>A screening mechanism </a:t>
            </a:r>
            <a:r>
              <a:rPr lang="en-US" dirty="0"/>
              <a:t>that allows a scalar field to mediate a long-range(∼Mpc) force of gravitational strength in the cosmos while satisfying local tests of gravity. </a:t>
            </a:r>
            <a:r>
              <a:rPr lang="en-US" i="1" dirty="0"/>
              <a:t>(</a:t>
            </a:r>
            <a:r>
              <a:rPr lang="en-US" i="1" dirty="0" err="1"/>
              <a:t>Hinterbichler</a:t>
            </a:r>
            <a:r>
              <a:rPr lang="en-US" i="1" dirty="0"/>
              <a:t> and Khoury 2010)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36AAE62-3089-E792-7FA6-241B0BE6EC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2891" y="2218427"/>
                <a:ext cx="6788425" cy="44954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Brief Mathematical Context: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400" i="0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400" dirty="0"/>
              </a:p>
              <a:p>
                <a:pPr marL="0" indent="0">
                  <a:buNone/>
                </a:pPr>
                <a:endParaRPr lang="en-GB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GB" sz="1400" b="0" i="1" dirty="0" smtClean="0">
                          <a:latin typeface="Cambria Math" panose="02040503050406030204" pitchFamily="18" charset="0"/>
                        </a:rPr>
                        <m:t>EOM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=−□</m:t>
                      </m:r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sz="1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p>
                              <m: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GB" sz="14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sz="1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GB" sz="1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GB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GB" sz="14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36AAE62-3089-E792-7FA6-241B0BE6E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891" y="2218427"/>
                <a:ext cx="6788425" cy="4495455"/>
              </a:xfrm>
              <a:prstGeom prst="rect">
                <a:avLst/>
              </a:prstGeom>
              <a:blipFill>
                <a:blip r:embed="rId2"/>
                <a:stretch>
                  <a:fillRect l="-898" t="-1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116BEB5-97F9-6D2C-FE3F-CC89306F8E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24498"/>
            <a:ext cx="4002887" cy="23814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181049-A08A-C4C6-EF47-F942CC9DF9B8}"/>
                  </a:ext>
                </a:extLst>
              </p:cNvPr>
              <p:cNvSpPr txBox="1"/>
              <p:nvPr/>
            </p:nvSpPr>
            <p:spPr>
              <a:xfrm>
                <a:off x="4860236" y="6057900"/>
                <a:ext cx="7121802" cy="754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Plot of effective potential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n-GB" sz="1400" dirty="0"/>
                  <a:t>  against field value in two regimes: high background density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 </a:t>
                </a:r>
                <a:r>
                  <a:rPr lang="en-GB" sz="1400" b="1" dirty="0"/>
                  <a:t>(orange dashed)</a:t>
                </a:r>
                <a:r>
                  <a:rPr lang="en-GB" sz="1400" dirty="0"/>
                  <a:t> and low background density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 </a:t>
                </a:r>
                <a:r>
                  <a:rPr lang="en-GB" sz="1400" b="1" dirty="0"/>
                  <a:t>(blue)</a:t>
                </a:r>
                <a:r>
                  <a:rPr lang="en-GB" sz="1400" dirty="0"/>
                  <a:t>. </a:t>
                </a:r>
                <a:r>
                  <a:rPr lang="en-GB" sz="1400" i="1" dirty="0"/>
                  <a:t>(Millington and Udemba 2026)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181049-A08A-C4C6-EF47-F942CC9DF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236" y="6057900"/>
                <a:ext cx="7121802" cy="754502"/>
              </a:xfrm>
              <a:prstGeom prst="rect">
                <a:avLst/>
              </a:prstGeom>
              <a:blipFill>
                <a:blip r:embed="rId4"/>
                <a:stretch>
                  <a:fillRect l="-257" t="-806"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1F225-960D-5742-CAD0-35DDD5B6FA55}"/>
                  </a:ext>
                </a:extLst>
              </p:cNvPr>
              <p:cNvSpPr txBox="1"/>
              <p:nvPr/>
            </p:nvSpPr>
            <p:spPr>
              <a:xfrm>
                <a:off x="10257184" y="2340770"/>
                <a:ext cx="1590259" cy="973856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0" dirty="0"/>
                  <a:t>For scalar</a:t>
                </a:r>
                <a:r>
                  <a:rPr lang="en-GB" sz="1400" dirty="0"/>
                  <a:t>-tensor theories,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eff</m:t>
                              </m:r>
                            </m:sub>
                          </m:sSub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𝜕𝜙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4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1F225-960D-5742-CAD0-35DDD5B6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7184" y="2340770"/>
                <a:ext cx="1590259" cy="973856"/>
              </a:xfrm>
              <a:prstGeom prst="rect">
                <a:avLst/>
              </a:prstGeom>
              <a:blipFill>
                <a:blip r:embed="rId5"/>
                <a:stretch>
                  <a:fillRect l="-760" t="-613" b="-1227"/>
                </a:stretch>
              </a:blipFill>
              <a:ln>
                <a:prstDash val="dash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4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EE34-3210-DFE5-CE57-594D257C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0F35-CD9A-F3CF-763B-8CCE8A2C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5191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7030A0"/>
                </a:solidFill>
              </a:rPr>
              <a:t>Aim: Approximate and Compare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60D7-FB68-B861-E58D-F753D61A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3" y="2617734"/>
            <a:ext cx="11781390" cy="2529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State-of-the-Art</a:t>
            </a:r>
          </a:p>
          <a:p>
            <a:pPr marL="0" indent="0">
              <a:buNone/>
            </a:pPr>
            <a:r>
              <a:rPr lang="en-GB" sz="1400" dirty="0"/>
              <a:t>Since its recent proposal in 2010, many experiments have been performed </a:t>
            </a:r>
            <a:r>
              <a:rPr lang="en-GB" sz="1400" b="1" dirty="0"/>
              <a:t>to constrain the field parameters</a:t>
            </a:r>
            <a:r>
              <a:rPr lang="en-GB" sz="1400" b="1" i="1" dirty="0"/>
              <a:t>.</a:t>
            </a:r>
          </a:p>
          <a:p>
            <a:pPr marL="0" indent="0">
              <a:buNone/>
            </a:pPr>
            <a:r>
              <a:rPr lang="en-GB" sz="1400" i="1" dirty="0"/>
              <a:t>(Burrage, Copeland and Hinds 2015; Chiow and Yu 2020; Sabulsky et al. 2019; Brax, Davis, Elder and Wong 2018; Yin et al. 2025; Fischer, </a:t>
            </a:r>
            <a:r>
              <a:rPr lang="en-GB" sz="1400" i="1" dirty="0" err="1"/>
              <a:t>Käding</a:t>
            </a:r>
            <a:r>
              <a:rPr lang="en-GB" sz="1400" i="1" dirty="0"/>
              <a:t> and </a:t>
            </a:r>
            <a:r>
              <a:rPr lang="en-GB" sz="1400" i="1" dirty="0" err="1"/>
              <a:t>Pitschmann</a:t>
            </a:r>
            <a:r>
              <a:rPr lang="en-GB" sz="1400" i="1" dirty="0"/>
              <a:t> 2024)</a:t>
            </a:r>
          </a:p>
          <a:p>
            <a:pPr marL="0" indent="0">
              <a:buNone/>
            </a:pPr>
            <a:r>
              <a:rPr lang="en-GB" sz="1400" b="1" dirty="0"/>
              <a:t>Recently: </a:t>
            </a:r>
            <a:r>
              <a:rPr lang="en-GB" sz="1400" dirty="0"/>
              <a:t>Quantum corrections have been applied to the classical symmetron field.</a:t>
            </a:r>
          </a:p>
          <a:p>
            <a:pPr marL="0" indent="0">
              <a:buNone/>
            </a:pPr>
            <a:r>
              <a:rPr lang="en-GB" sz="1400" b="1" dirty="0"/>
              <a:t>Impact within symmetron research: </a:t>
            </a:r>
            <a:r>
              <a:rPr lang="en-GB" sz="1400" dirty="0"/>
              <a:t>Quantum corrections become significant when considering coupling to Standard Model and the method employed to find these corrections have application to other symmetron-like models </a:t>
            </a:r>
            <a:r>
              <a:rPr lang="en-GB" sz="1400" i="1" dirty="0"/>
              <a:t>(Millington and Udemba 2026)</a:t>
            </a:r>
            <a:br>
              <a:rPr lang="en-GB" sz="1400" dirty="0"/>
            </a:br>
            <a:endParaRPr lang="en-GB" sz="1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C92484-4991-BBE3-C909-4F58C5619800}"/>
              </a:ext>
            </a:extLst>
          </p:cNvPr>
          <p:cNvSpPr txBox="1">
            <a:spLocks/>
          </p:cNvSpPr>
          <p:nvPr/>
        </p:nvSpPr>
        <p:spPr>
          <a:xfrm>
            <a:off x="56113" y="735498"/>
            <a:ext cx="7840525" cy="20047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Objective</a:t>
            </a:r>
          </a:p>
          <a:p>
            <a:r>
              <a:rPr lang="en-GB" sz="1500" dirty="0"/>
              <a:t>Apply a</a:t>
            </a:r>
            <a:r>
              <a:rPr lang="en-GB" sz="1500" b="1" dirty="0"/>
              <a:t>pproximations</a:t>
            </a:r>
            <a:r>
              <a:rPr lang="en-GB" sz="1500" dirty="0"/>
              <a:t> to the symmetron equation of motion</a:t>
            </a:r>
          </a:p>
          <a:p>
            <a:r>
              <a:rPr lang="en-GB" sz="1500" b="1" dirty="0"/>
              <a:t>Compare</a:t>
            </a:r>
            <a:r>
              <a:rPr lang="en-GB" sz="1500" dirty="0"/>
              <a:t> to more complete (numerical) calculations</a:t>
            </a:r>
          </a:p>
          <a:p>
            <a:r>
              <a:rPr lang="en-GB" sz="1500" b="1" dirty="0"/>
              <a:t>Quantify the error </a:t>
            </a:r>
            <a:r>
              <a:rPr lang="en-GB" sz="1500" dirty="0"/>
              <a:t>introduced with respect to these approximations</a:t>
            </a:r>
          </a:p>
          <a:p>
            <a:r>
              <a:rPr lang="en-GB" sz="1500" dirty="0"/>
              <a:t>Is there an optimal approximation or combination of them which closely aligns with numerical results?</a:t>
            </a:r>
          </a:p>
          <a:p>
            <a:r>
              <a:rPr lang="en-GB" sz="1500" dirty="0"/>
              <a:t>Possibly provide a more convenient analytical framework for symmetron, </a:t>
            </a:r>
            <a:r>
              <a:rPr lang="en-GB" sz="1500" b="1" dirty="0"/>
              <a:t>reducing the need for numerical simulations</a:t>
            </a:r>
          </a:p>
          <a:p>
            <a:endParaRPr lang="en-GB" sz="17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5FED76-CCBB-1670-D4FA-A489E5F63CA9}"/>
              </a:ext>
            </a:extLst>
          </p:cNvPr>
          <p:cNvSpPr txBox="1">
            <a:spLocks/>
          </p:cNvSpPr>
          <p:nvPr/>
        </p:nvSpPr>
        <p:spPr>
          <a:xfrm>
            <a:off x="71023" y="4661452"/>
            <a:ext cx="12049954" cy="21965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Potential Societal Impact</a:t>
            </a:r>
          </a:p>
          <a:p>
            <a:r>
              <a:rPr lang="en-GB" sz="1700" dirty="0"/>
              <a:t>Development of new </a:t>
            </a:r>
            <a:r>
              <a:rPr lang="en-GB" sz="1700" b="1" dirty="0"/>
              <a:t>computational tools</a:t>
            </a:r>
            <a:r>
              <a:rPr lang="en-GB" sz="1700" dirty="0"/>
              <a:t>, with practical application in other fields </a:t>
            </a:r>
            <a:r>
              <a:rPr lang="en-GB" sz="1700" i="1" dirty="0"/>
              <a:t>(Fischer and </a:t>
            </a:r>
            <a:r>
              <a:rPr lang="en-GB" sz="1700" i="1" dirty="0" err="1"/>
              <a:t>Sedmik</a:t>
            </a:r>
            <a:r>
              <a:rPr lang="en-GB" sz="1700" i="1" dirty="0"/>
              <a:t> 2024):</a:t>
            </a:r>
          </a:p>
          <a:p>
            <a:pPr lvl="1"/>
            <a:r>
              <a:rPr lang="en-GB" sz="1300" dirty="0"/>
              <a:t>Gravity resonance spectroscopy</a:t>
            </a:r>
          </a:p>
          <a:p>
            <a:pPr lvl="1"/>
            <a:r>
              <a:rPr lang="en-GB" sz="1300" dirty="0"/>
              <a:t>Lunar Laser Ranging</a:t>
            </a:r>
          </a:p>
          <a:p>
            <a:pPr lvl="1"/>
            <a:r>
              <a:rPr lang="en-GB" sz="1300" dirty="0"/>
              <a:t>Casimir and Non-Newtonian Force Experiment</a:t>
            </a:r>
          </a:p>
          <a:p>
            <a:r>
              <a:rPr lang="en-GB" sz="1700" dirty="0"/>
              <a:t>Improvement of existing </a:t>
            </a:r>
            <a:r>
              <a:rPr lang="en-GB" sz="1700" b="1" dirty="0"/>
              <a:t>experimental techniques</a:t>
            </a:r>
            <a:r>
              <a:rPr lang="en-GB" sz="1700" dirty="0"/>
              <a:t>, i.e. cold atom interferometry </a:t>
            </a:r>
            <a:r>
              <a:rPr lang="en-GB" sz="1700" i="1" dirty="0"/>
              <a:t>(Burrage, Kuribayashi-Coleman, Stevenson &amp; </a:t>
            </a:r>
            <a:r>
              <a:rPr lang="en-GB" sz="1700" i="1" dirty="0" err="1"/>
              <a:t>Thrussel</a:t>
            </a:r>
            <a:r>
              <a:rPr lang="en-GB" sz="1700" i="1" dirty="0"/>
              <a:t> 2016)</a:t>
            </a:r>
            <a:r>
              <a:rPr lang="en-GB" sz="1700" dirty="0"/>
              <a:t> </a:t>
            </a:r>
          </a:p>
          <a:p>
            <a:r>
              <a:rPr lang="en-GB" sz="1700" dirty="0"/>
              <a:t>The latter can lead to improvements in </a:t>
            </a:r>
            <a:r>
              <a:rPr lang="en-GB" sz="1700" b="1" dirty="0"/>
              <a:t>high-precision clocks </a:t>
            </a:r>
            <a:r>
              <a:rPr lang="en-GB" sz="1700" i="1" dirty="0"/>
              <a:t>(Feleppa, Lambiase &amp; Vagnozzi 2025)</a:t>
            </a:r>
          </a:p>
          <a:p>
            <a:endParaRPr lang="en-GB" sz="1700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AB4E53-62FC-4B61-3E71-440D71CA9EC4}"/>
                  </a:ext>
                </a:extLst>
              </p:cNvPr>
              <p:cNvSpPr txBox="1"/>
              <p:nvPr/>
            </p:nvSpPr>
            <p:spPr>
              <a:xfrm>
                <a:off x="7971183" y="596349"/>
                <a:ext cx="4089952" cy="175432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Approximations include: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Static case (drop time dependence)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Thin wall (consider large spherical field source)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Quadratic (drop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dirty="0"/>
                  <a:t> term and hence solve linear EOM)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AB4E53-62FC-4B61-3E71-440D71CA9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183" y="596349"/>
                <a:ext cx="4089952" cy="1754326"/>
              </a:xfrm>
              <a:prstGeom prst="rect">
                <a:avLst/>
              </a:prstGeom>
              <a:blipFill>
                <a:blip r:embed="rId2"/>
                <a:stretch>
                  <a:fillRect l="-1189" t="-1379" b="-44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8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5E06-0647-034C-05BC-FF218E6C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" y="-319675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References</a:t>
            </a:r>
            <a:endParaRPr lang="en-GB" sz="25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55FC3-FFB8-852B-E69D-8A28C4206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70" y="959126"/>
            <a:ext cx="11593995" cy="57845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1600" dirty="0"/>
              <a:t>Philippe Brax and Mario </a:t>
            </a:r>
            <a:r>
              <a:rPr lang="en-GB" sz="1600" dirty="0" err="1"/>
              <a:t>Pitschmann</a:t>
            </a:r>
            <a:r>
              <a:rPr lang="en-GB" sz="1600" dirty="0"/>
              <a:t>. “Exact solutions to nonlinear symmetron theory: One- and two-mirror systems”. </a:t>
            </a:r>
            <a:r>
              <a:rPr lang="en-GB" sz="1600" dirty="0" err="1"/>
              <a:t>In:Physical</a:t>
            </a:r>
            <a:r>
              <a:rPr lang="en-GB" sz="1600" dirty="0"/>
              <a:t> Review D 97.6 (Mar. 2018). </a:t>
            </a:r>
            <a:r>
              <a:rPr lang="en-GB" sz="1600" dirty="0" err="1"/>
              <a:t>issn</a:t>
            </a:r>
            <a:r>
              <a:rPr lang="en-GB" sz="1600" dirty="0"/>
              <a:t>: 2470-0029. </a:t>
            </a:r>
            <a:r>
              <a:rPr lang="en-GB" sz="1600" dirty="0" err="1"/>
              <a:t>doi</a:t>
            </a:r>
            <a:r>
              <a:rPr lang="en-GB" sz="1600" dirty="0"/>
              <a:t>: 10.1103/physrevd.97.064015. url: </a:t>
            </a:r>
            <a:r>
              <a:rPr lang="en-GB" sz="1600" dirty="0">
                <a:hlinkClick r:id="rId2"/>
              </a:rPr>
              <a:t>http://dx.doi.org/10.1103/PhysRevD.97.064015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Clare Burrage, Edmund J. Copeland, and E.A. Hinds. “Probing dark energy with atom interferometry”. In: Journal of </a:t>
            </a:r>
            <a:r>
              <a:rPr lang="en-GB" sz="1600" dirty="0" err="1"/>
              <a:t>Cosmologyand</a:t>
            </a:r>
            <a:r>
              <a:rPr lang="en-GB" sz="1600" dirty="0"/>
              <a:t> </a:t>
            </a:r>
            <a:r>
              <a:rPr lang="en-GB" sz="1600" dirty="0" err="1"/>
              <a:t>Astroparticle</a:t>
            </a:r>
            <a:r>
              <a:rPr lang="en-GB" sz="1600" dirty="0"/>
              <a:t> Physics 2015.03 (Mar. 2015), pp. 042–042. </a:t>
            </a:r>
            <a:r>
              <a:rPr lang="en-GB" sz="1600" dirty="0" err="1"/>
              <a:t>issn</a:t>
            </a:r>
            <a:r>
              <a:rPr lang="en-GB" sz="1600" dirty="0"/>
              <a:t>: 1475-7516. </a:t>
            </a:r>
            <a:r>
              <a:rPr lang="en-GB" sz="1600" dirty="0" err="1"/>
              <a:t>doi</a:t>
            </a:r>
            <a:r>
              <a:rPr lang="en-GB" sz="1600" dirty="0"/>
              <a:t>: 10.1088/1475-7516/2015/03/042. </a:t>
            </a:r>
            <a:r>
              <a:rPr lang="en-GB" sz="1600" dirty="0">
                <a:hlinkClick r:id="rId3"/>
              </a:rPr>
              <a:t>url:http://dx.doi.org/10.1088/1475-7516/2015/03/042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Clare Burrage et al. “Constraining symmetron fields with atom interferometry”. In: Journal of Cosmology and </a:t>
            </a:r>
            <a:r>
              <a:rPr lang="en-GB" sz="1600" dirty="0" err="1"/>
              <a:t>AstroparticlePhysics</a:t>
            </a:r>
            <a:r>
              <a:rPr lang="en-GB" sz="1600" dirty="0"/>
              <a:t> 2016.12 (Dec. 2016), pp. 041–041. </a:t>
            </a:r>
            <a:r>
              <a:rPr lang="en-GB" sz="1600" dirty="0" err="1"/>
              <a:t>issn</a:t>
            </a:r>
            <a:r>
              <a:rPr lang="en-GB" sz="1600" dirty="0"/>
              <a:t>: 1475-7516. </a:t>
            </a:r>
            <a:r>
              <a:rPr lang="en-GB" sz="1600" dirty="0" err="1"/>
              <a:t>doi</a:t>
            </a:r>
            <a:r>
              <a:rPr lang="en-GB" sz="1600" dirty="0"/>
              <a:t>: 10.1088/1475-7516/2016/12/041. url: </a:t>
            </a:r>
            <a:r>
              <a:rPr lang="en-GB" sz="1600" dirty="0">
                <a:hlinkClick r:id="rId4"/>
              </a:rPr>
              <a:t>http://dx.doi.org/10.1088/1475-7516/2016/12/041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Clare Burrage et al. “Fifth-force screening around extremely compact sources”. In: Journal of Cosmology and </a:t>
            </a:r>
            <a:r>
              <a:rPr lang="en-GB" sz="1600" dirty="0" err="1"/>
              <a:t>AstroparticlePhysics</a:t>
            </a:r>
            <a:r>
              <a:rPr lang="en-GB" sz="1600" dirty="0"/>
              <a:t> 2021.08 (Aug. 2021), p. 052. </a:t>
            </a:r>
            <a:r>
              <a:rPr lang="en-GB" sz="1600" dirty="0" err="1"/>
              <a:t>issn</a:t>
            </a:r>
            <a:r>
              <a:rPr lang="en-GB" sz="1600" dirty="0"/>
              <a:t>: 1475-7516. </a:t>
            </a:r>
            <a:r>
              <a:rPr lang="en-GB" sz="1600" dirty="0" err="1"/>
              <a:t>doi</a:t>
            </a:r>
            <a:r>
              <a:rPr lang="en-GB" sz="1600" dirty="0"/>
              <a:t>: 10.1088/1475-7516/2021/08/052. url: </a:t>
            </a:r>
            <a:r>
              <a:rPr lang="en-GB" sz="1600" dirty="0">
                <a:hlinkClick r:id="rId5"/>
              </a:rPr>
              <a:t>http://dx.doi.org/10.1088/1475-7516/2021/08/052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Clare Burrage et al. “Symmetron scalar fields: Modified gravity, dark matter, or both?” In: Phys. Rev. D 99 (4 Feb. 2019),p. 043539. </a:t>
            </a:r>
            <a:r>
              <a:rPr lang="en-GB" sz="1600" dirty="0" err="1"/>
              <a:t>doi</a:t>
            </a:r>
            <a:r>
              <a:rPr lang="en-GB" sz="1600" dirty="0"/>
              <a:t>: 10.1103/PhysRevD.99.043539. url: </a:t>
            </a:r>
            <a:r>
              <a:rPr lang="en-GB" sz="1600" dirty="0">
                <a:hlinkClick r:id="rId6"/>
              </a:rPr>
              <a:t>https://link.aps.org/doi/10.1103/PhysRevD.99.043539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Sheng-</a:t>
            </a:r>
            <a:r>
              <a:rPr lang="en-GB" sz="1600" dirty="0" err="1"/>
              <a:t>wey</a:t>
            </a:r>
            <a:r>
              <a:rPr lang="en-GB" sz="1600" dirty="0"/>
              <a:t> Chiow and Nan Yu. “Constraining symmetron dark energy using atom interferometry”. In: Physical Review D 101.8(Apr. 2020). </a:t>
            </a:r>
            <a:r>
              <a:rPr lang="en-GB" sz="1600" dirty="0" err="1"/>
              <a:t>issn</a:t>
            </a:r>
            <a:r>
              <a:rPr lang="en-GB" sz="1600" dirty="0"/>
              <a:t>: 2470-0029. </a:t>
            </a:r>
            <a:r>
              <a:rPr lang="en-GB" sz="1600" dirty="0" err="1"/>
              <a:t>doi</a:t>
            </a:r>
            <a:r>
              <a:rPr lang="en-GB" sz="1600" dirty="0"/>
              <a:t>: 10.1103/physrevd.101.083501. url: </a:t>
            </a:r>
            <a:r>
              <a:rPr lang="en-GB" sz="1600" dirty="0">
                <a:hlinkClick r:id="rId7"/>
              </a:rPr>
              <a:t>http://dx.doi.org/10.1103/PhysRevD.101.083501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Fabiano Feleppa, Gaetano Lambiase, and Sunny Vagnozzi. “Imprints of screened dark energy on nonlocal quantum </a:t>
            </a:r>
            <a:r>
              <a:rPr lang="en-GB" sz="1600" dirty="0" err="1"/>
              <a:t>correlations”.In</a:t>
            </a:r>
            <a:r>
              <a:rPr lang="en-GB" sz="1600" dirty="0"/>
              <a:t>: Phys. Rev. D 112 (8 Oct. 2025), p. 084011. </a:t>
            </a:r>
            <a:r>
              <a:rPr lang="en-GB" sz="1600" dirty="0" err="1"/>
              <a:t>doi</a:t>
            </a:r>
            <a:r>
              <a:rPr lang="en-GB" sz="1600" dirty="0"/>
              <a:t>: 10.1103/y314-4x4s. url: </a:t>
            </a:r>
            <a:r>
              <a:rPr lang="en-GB" sz="1600" dirty="0">
                <a:hlinkClick r:id="rId8"/>
              </a:rPr>
              <a:t>https://link.aps.org/doi/10.1103/y314-4x4s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Hauke Fischer, Christian </a:t>
            </a:r>
            <a:r>
              <a:rPr lang="en-GB" sz="1600" dirty="0" err="1"/>
              <a:t>K¨ading</a:t>
            </a:r>
            <a:r>
              <a:rPr lang="en-GB" sz="1600" dirty="0"/>
              <a:t>, and Mario </a:t>
            </a:r>
            <a:r>
              <a:rPr lang="en-GB" sz="1600" dirty="0" err="1"/>
              <a:t>Pitschmann</a:t>
            </a:r>
            <a:r>
              <a:rPr lang="en-GB" sz="1600" dirty="0"/>
              <a:t>. “Screened Scalar Fields in the Laboratory and the Solar </a:t>
            </a:r>
            <a:r>
              <a:rPr lang="en-GB" sz="1600" dirty="0" err="1"/>
              <a:t>System”.In</a:t>
            </a:r>
            <a:r>
              <a:rPr lang="en-GB" sz="1600" dirty="0"/>
              <a:t>: Universe 10.7 (2024), p. 297. </a:t>
            </a:r>
            <a:r>
              <a:rPr lang="en-GB" sz="1600" dirty="0" err="1"/>
              <a:t>issn</a:t>
            </a:r>
            <a:r>
              <a:rPr lang="en-GB" sz="1600" dirty="0"/>
              <a:t>: 2218-1997. </a:t>
            </a:r>
            <a:r>
              <a:rPr lang="en-GB" sz="1600" dirty="0" err="1"/>
              <a:t>doi</a:t>
            </a:r>
            <a:r>
              <a:rPr lang="en-GB" sz="1600" dirty="0"/>
              <a:t>: 10.3390/universe10070297. url: </a:t>
            </a:r>
            <a:r>
              <a:rPr lang="en-GB" sz="1600" dirty="0">
                <a:hlinkClick r:id="rId9"/>
              </a:rPr>
              <a:t>http://dx.doi.org/10.3390/universe10070297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Hauke Fischer and </a:t>
            </a:r>
            <a:r>
              <a:rPr lang="en-GB" sz="1600" dirty="0" err="1"/>
              <a:t>Ren´e</a:t>
            </a:r>
            <a:r>
              <a:rPr lang="en-GB" sz="1600" dirty="0"/>
              <a:t> I.P. </a:t>
            </a:r>
            <a:r>
              <a:rPr lang="en-GB" sz="1600" dirty="0" err="1"/>
              <a:t>Sedmik</a:t>
            </a:r>
            <a:r>
              <a:rPr lang="en-GB" sz="1600" dirty="0"/>
              <a:t>. “Numerical methods for scalar field dark energy in tabletop experiments and Lunar </a:t>
            </a:r>
            <a:r>
              <a:rPr lang="en-GB" sz="1600" dirty="0" err="1"/>
              <a:t>LaserRanging</a:t>
            </a:r>
            <a:r>
              <a:rPr lang="en-GB" sz="1600" dirty="0"/>
              <a:t>”. In: Journal of Cosmology and </a:t>
            </a:r>
            <a:r>
              <a:rPr lang="en-GB" sz="1600" dirty="0" err="1"/>
              <a:t>Astroparticle</a:t>
            </a:r>
            <a:r>
              <a:rPr lang="en-GB" sz="1600" dirty="0"/>
              <a:t> Physics 2024.10 (Oct. 2024), p. 026. </a:t>
            </a:r>
            <a:r>
              <a:rPr lang="en-GB" sz="1600" dirty="0" err="1"/>
              <a:t>doi</a:t>
            </a:r>
            <a:r>
              <a:rPr lang="en-GB" sz="1600" dirty="0"/>
              <a:t>: 10.1088/1475-7516/2024/10/026. url: </a:t>
            </a:r>
            <a:r>
              <a:rPr lang="en-GB" sz="1600" dirty="0">
                <a:hlinkClick r:id="rId10"/>
              </a:rPr>
              <a:t>https://doi.org/10.1088/1475-7516/2024/10/026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Kurt </a:t>
            </a:r>
            <a:r>
              <a:rPr lang="en-GB" sz="1600" dirty="0" err="1"/>
              <a:t>Hinterbichler</a:t>
            </a:r>
            <a:r>
              <a:rPr lang="en-GB" sz="1600" dirty="0"/>
              <a:t> and Justin Khoury. “Screening Long-Range Forces through Local Symmetry Restoration”. In: Phys. </a:t>
            </a:r>
            <a:r>
              <a:rPr lang="en-GB" sz="1600" dirty="0" err="1"/>
              <a:t>Rev.Lett</a:t>
            </a:r>
            <a:r>
              <a:rPr lang="en-GB" sz="1600" dirty="0"/>
              <a:t>. 104 (23 June 2010), p. 231301. </a:t>
            </a:r>
            <a:r>
              <a:rPr lang="en-GB" sz="1600" dirty="0" err="1"/>
              <a:t>doi</a:t>
            </a:r>
            <a:r>
              <a:rPr lang="en-GB" sz="1600" dirty="0"/>
              <a:t>: 10.1103/PhysRevLett.104.231301. url: </a:t>
            </a:r>
            <a:r>
              <a:rPr lang="en-GB" sz="1600" dirty="0">
                <a:hlinkClick r:id="rId11"/>
              </a:rPr>
              <a:t>https://link.aps.org/doi/10.1103/PhysRevLett.104.231301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Peter Millington and Michael Udemba. “Quantum corrections to symmetron fifth-force profiles”. In: Journal of Cosmology </a:t>
            </a:r>
            <a:r>
              <a:rPr lang="en-GB" sz="1600" dirty="0" err="1"/>
              <a:t>andAstroparticle</a:t>
            </a:r>
            <a:r>
              <a:rPr lang="en-GB" sz="1600" dirty="0"/>
              <a:t> Physics 2026.02 (Feb. 2026), p. 087. </a:t>
            </a:r>
            <a:r>
              <a:rPr lang="en-GB" sz="1600" dirty="0" err="1"/>
              <a:t>doi</a:t>
            </a:r>
            <a:r>
              <a:rPr lang="en-GB" sz="1600" dirty="0"/>
              <a:t>: 10.1088/1475-7516/2026/02/087. url: </a:t>
            </a:r>
            <a:r>
              <a:rPr lang="en-GB" sz="1600" dirty="0">
                <a:hlinkClick r:id="rId12"/>
              </a:rPr>
              <a:t>https://doi.org/10.1088/1475-7516/2026/02/087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/>
              <a:t>D. O. Sabulsky et al. “Experiment to Detect Dark Energy Forces Using Atom Interferometry”. In: Physical Review Letters 123.6(Aug. 2019). </a:t>
            </a:r>
            <a:r>
              <a:rPr lang="en-GB" sz="1600" dirty="0" err="1"/>
              <a:t>issn</a:t>
            </a:r>
            <a:r>
              <a:rPr lang="en-GB" sz="1600" dirty="0"/>
              <a:t>: 1079-7114. </a:t>
            </a:r>
            <a:r>
              <a:rPr lang="en-GB" sz="1600" dirty="0" err="1"/>
              <a:t>doi</a:t>
            </a:r>
            <a:r>
              <a:rPr lang="en-GB" sz="1600" dirty="0"/>
              <a:t>: 10.1103/physrevlett.123.061102. url: </a:t>
            </a:r>
            <a:r>
              <a:rPr lang="en-GB" sz="1600" dirty="0">
                <a:hlinkClick r:id="rId13"/>
              </a:rPr>
              <a:t>http://dx.doi.org/10.1103/PhysRevLett.123.061102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 err="1"/>
              <a:t>Peiran</a:t>
            </a:r>
            <a:r>
              <a:rPr lang="en-GB" sz="1600" dirty="0"/>
              <a:t> Yin et al. “Experimental constraints on the symmetron field with a magnetically levitated force sensor”. In: </a:t>
            </a:r>
            <a:r>
              <a:rPr lang="en-GB" sz="1600" dirty="0" err="1"/>
              <a:t>NatureAstron</a:t>
            </a:r>
            <a:r>
              <a:rPr lang="en-GB" sz="1600" dirty="0"/>
              <a:t>. 9.4 (2025), pp. 598–607. </a:t>
            </a:r>
            <a:r>
              <a:rPr lang="en-GB" sz="1600" dirty="0" err="1"/>
              <a:t>doi</a:t>
            </a:r>
            <a:r>
              <a:rPr lang="en-GB" sz="1600" dirty="0"/>
              <a:t>: 10.1038/s41550-024-02465-8.</a:t>
            </a:r>
          </a:p>
        </p:txBody>
      </p:sp>
    </p:spTree>
    <p:extLst>
      <p:ext uri="{BB962C8B-B14F-4D97-AF65-F5344CB8AC3E}">
        <p14:creationId xmlns:p14="http://schemas.microsoft.com/office/powerpoint/2010/main" val="283091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1223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Investigating the Validity of Fifth-Force Approximations</vt:lpstr>
      <vt:lpstr>Context: Screening Mechanisms</vt:lpstr>
      <vt:lpstr>Aim: Approximate and Compare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Egan</dc:creator>
  <cp:lastModifiedBy>Joe Egan</cp:lastModifiedBy>
  <cp:revision>28</cp:revision>
  <dcterms:created xsi:type="dcterms:W3CDTF">2026-10-17T15:22:21Z</dcterms:created>
  <dcterms:modified xsi:type="dcterms:W3CDTF">2026-10-22T11:29:09Z</dcterms:modified>
</cp:coreProperties>
</file>